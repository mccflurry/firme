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0:00–0:15 · GANCHO (memorizar palabra por palabra, a la mitad de tu velocidad normal)</a:t>
            </a:r>
          </a:p>
          <a:p/>
          <a:p>
            <a:r>
              <a:t>«S/79 al mes», dijo el asesor. [pausa]</a:t>
            </a:r>
          </a:p>
          <a:p>
            <a:r>
              <a:t>La primera factura llegó en S/109. [pausa]</a:t>
            </a:r>
          </a:p>
          <a:p>
            <a:r>
              <a:t>Plan, cuota de instalación, recibo físico. Todo estaba en el contrato. Nada estaba en la promesa.</a:t>
            </a:r>
          </a:p>
          <a:p>
            <a:r>
              <a:t>Y el reclamo ya está en camino.</a:t>
            </a:r>
          </a:p>
          <a:p/>
          <a:p>
            <a:r>
              <a:t>(No digas tu nombre ni el del equipo. Eso va después del problema.)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0:15–0:50 · PROBLEMA (tres cifras, cada una despacio, un segundo de silencio después)</a:t>
            </a:r>
          </a:p>
          <a:p/>
          <a:p>
            <a:r>
              <a:t>Hoy, el 40 % de los reclamos de telecomunicaciones en el Perú son por facturación y cobro. [pausa] Medio millón el año pasado, según OSIPTEL.</a:t>
            </a:r>
          </a:p>
          <a:p>
            <a:r>
              <a:t>Pasa porque la promesa y la factura salen de lugares distintos. WIN publica hoy tres tarifarios que no coinciden entre sí. [pausa]</a:t>
            </a:r>
          </a:p>
          <a:p>
            <a:r>
              <a:t>Y una venta que no fue lo que parecía no se paga en la venta: se paga después. Una sola baja temprana cuesta S/95. [pausa]</a:t>
            </a:r>
          </a:p>
          <a:p>
            <a:r>
              <a:t>Instalación fallida, reclamo, reversión: cada uno tiene su precio, y ninguno se recupera.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0:50–1:35 · SOLUCIÓN (una frase antes de cualquier función)</a:t>
            </a:r>
          </a:p>
          <a:p/>
          <a:p>
            <a:r>
              <a:t>Nosotros tratamos la promesa como el dato principal. Comparamos cuatro versiones de la misma venta: lo que se prometió, el catálogo vigente, lo que quedó registrado y lo que se va a entregar. Cada desacuerdo es un defecto con nombre, valor y costo en soles.</a:t>
            </a:r>
          </a:p>
          <a:p>
            <a:r>
              <a:t>Tres cosas hace.</a:t>
            </a:r>
          </a:p>
          <a:p>
            <a:r>
              <a:t>Uno: cada venta sale con un veredicto, aprobar, revisar o retener, con su cadena de evidencia y un contrafáctico: «si el precio fuera S/99, esta venta pasaría».</a:t>
            </a:r>
          </a:p>
          <a:p>
            <a:r>
              <a:t>Dos: el jurado pega un lote con cualquier esquema y el sistema lo mapea, lo separa y muestra la matriz de confusión.</a:t>
            </a:r>
          </a:p>
          <a:p>
            <a:r>
              <a:t>Tres: el cliente confirma por un enlace de veinte segundos antes de instalar. Y su silencio es la señal más fuerte que tenemos.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1:35–2:05 · DIFERENCIA (nombra la alternativa sin miedo)</a:t>
            </a:r>
          </a:p>
          <a:p/>
          <a:p>
            <a:r>
              <a:t>A diferencia de una auditoría muestral, esto corre en cada venta y antes de instalar.</a:t>
            </a:r>
          </a:p>
          <a:p>
            <a:r>
              <a:t>A diferencia de un score de riesgo, no hay caja negra: la decisión es costo esperado del defecto contra costo de revisar, en soles, y se explica campo por campo.</a:t>
            </a:r>
          </a:p>
          <a:p>
            <a:r>
              <a:t>Y no necesita histórico etiquetado: corre el día uno con el tarifario público.</a:t>
            </a:r>
          </a:p>
          <a:p>
            <a:r>
              <a:t>La IA extrae, mapea y redacta. Nunca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2:05–2:30 · TRACCIÓN (números, no promesas; señala el QR)</a:t>
            </a:r>
          </a:p>
          <a:p/>
          <a:p>
            <a:r>
              <a:t>Esto no es una maqueta. Corre ahora, en esa URL, sin instalar nada.</a:t>
            </a:r>
          </a:p>
          <a:p>
            <a:r>
              <a:t>39 reglas con fuente declarada. 24 casos adversarios y 25 casos demo en el repo. Un contrato de datos de 30 campos donde 21 ya existen en WIN. 97 pruebas en verde.</a:t>
            </a:r>
          </a:p>
          <a:p>
            <a:r>
              <a:t>Escaneen el código y prueben con su propio lote mientras seguimos.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2:30–2:40 · EQUIPO (una línea por persona; ahora sí, el nombre)</a:t>
            </a:r>
          </a:p>
          <a:p/>
          <a:p>
            <a:r>
              <a:t>Somos tres: Roger construyó el motor que decide, Abraham la pantalla que lo explica en un teléfono, y Jonatan el circuito que lo cierra con el cliente.</a:t>
            </a:r>
          </a:p>
          <a:p/>
          <a:p>
            <a:r>
              <a:t>(Si quieren, reemplacen cada línea por la que conecta a cada uno con el problema: experiencia en ventas, en atención, en datos.)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2:40–3:00 · CIERRE Y PEDIDO (memorizar palabra por palabra; termina en el pedido, no en gracias)</a:t>
            </a:r>
          </a:p>
          <a:p/>
          <a:p>
            <a:r>
              <a:t>Que lo prometido sea lo entregado: antes de la instalación, no después del reclamo.</a:t>
            </a:r>
          </a:p>
          <a:p>
            <a:r>
              <a:t>Pedimos un piloto de 30 días con Calidad de Venta: acceso al registro de ventas por API, tres cifras que hoy no tenemos, y los cinco campos que faltan del contrato. [pausa]</a:t>
            </a:r>
          </a:p>
          <a:p>
            <a:r>
              <a:t>Escaneen el código. Está corriendo.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esta lámina en pantalla durante las preguntas del jurado.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1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91992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74320"/>
            <a:ext cx="54864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Helvetica Neue"/>
              </a:rPr>
              <a:t>Reto 03 · Que lo prometido sea lo entregado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74320"/>
            <a:ext cx="32918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>
                <a:solidFill>
                  <a:srgbClr val="FF5A0A"/>
                </a:solidFill>
                <a:latin typeface="Helvetica Neue"/>
              </a:rPr>
              <a:t>1 / 7 · Gancho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Helvetica Neue"/>
              </a:rPr>
              <a:t>«S/79 al mes», dijo el asesor.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5A0A"/>
                </a:solidFill>
                <a:latin typeface="Helvetica Neue"/>
              </a:rPr>
              <a:t>La primera factura llegó en S/109.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F6F6F6"/>
                </a:solidFill>
                <a:latin typeface="Helvetica Neue"/>
              </a:rPr>
              <a:t>S/79 del plan + S/20 de la cuota 1 de 6 de instalación + S/10 del recibo físico.</a:t>
            </a: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</a:rPr>
              <a:t>Todo estaba en el contrato. Nada estaba en la promesa.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DEDBD9"/>
                </a:solidFill>
                <a:latin typeface="Helvetica Neue"/>
              </a:rPr>
              <a:t>Fuente: cartilla informativa WIN §2.2 y Anexo 1 del contrato (documentos públicos). Caso sintético.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91992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74320"/>
            <a:ext cx="54864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4B4B4B"/>
                </a:solidFill>
                <a:latin typeface="Helvetica Neue"/>
              </a:rPr>
              <a:t>Reto 03 · Que lo prometido sea lo entregado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74320"/>
            <a:ext cx="32918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>
                <a:solidFill>
                  <a:srgbClr val="C83D08"/>
                </a:solidFill>
                <a:latin typeface="Helvetica Neue"/>
              </a:rPr>
              <a:t>2 / 7 ·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301D19"/>
                </a:solidFill>
                <a:latin typeface="Helvetica Neue"/>
              </a:rPr>
              <a:t>Una venta que no fue lo que parecía no se paga en la venta. Se paga después.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33375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3337560" cy="73152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0175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C83D08"/>
                </a:solidFill>
                <a:latin typeface="Helvetica Neue"/>
              </a:rPr>
              <a:t>40 %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301D19"/>
                </a:solidFill>
                <a:latin typeface="Helvetica Neue"/>
              </a:rPr>
              <a:t>de los reclamos de telecomunicaciones en el Perú, 2025, son por facturación y cobro.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3017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B4B4B"/>
                </a:solidFill>
                <a:latin typeface="Helvetica Neue"/>
              </a:rPr>
              <a:t>502 944 de 1 257 286 · OSIPTEL, Informe 000069-2025-DAPU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33375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011680"/>
            <a:ext cx="3337560" cy="73152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30175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C83D08"/>
                </a:solidFill>
                <a:latin typeface="Helvetica Neue"/>
              </a:rPr>
              <a:t>3 tarifarios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2918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301D19"/>
                </a:solidFill>
                <a:latin typeface="Helvetica Neue"/>
              </a:rPr>
              <a:t>publica WIN hoy, y no coinciden entre sí: mismo plan, distinto precio, distinta promoción.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846320"/>
            <a:ext cx="3017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B4B4B"/>
                </a:solidFill>
                <a:latin typeface="Helvetica Neue"/>
              </a:rPr>
              <a:t>Cartilla feb-2024 · win.pe/hogar · win.pe/chiclayo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33375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011680"/>
            <a:ext cx="3337560" cy="73152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240280"/>
            <a:ext cx="30175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C83D08"/>
                </a:solidFill>
                <a:latin typeface="Helvetica Neue"/>
              </a:rPr>
              <a:t>S/95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918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301D19"/>
                </a:solidFill>
                <a:latin typeface="Helvetica Neue"/>
              </a:rPr>
              <a:t>cuesta una sola baja temprana. Antes de eso: instalación fallida, reclamo, reversión de factura.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46320"/>
            <a:ext cx="3017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B4B4B"/>
                </a:solidFill>
                <a:latin typeface="Helvetica Neue"/>
              </a:rPr>
              <a:t>Modelo de costo del equipo, P-08 a P-15, valores marcados como supuesto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4B4B4B"/>
                </a:solidFill>
                <a:latin typeface="Helvetica Neue"/>
              </a:rPr>
              <a:t>Quien lo sufre: Ana firmó por S/79 y el técnico llega en 30 días con otra cosa. Y el vendedor honesto carga con el costo del que no lo 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91992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74320"/>
            <a:ext cx="54864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4B4B4B"/>
                </a:solidFill>
                <a:latin typeface="Helvetica Neue"/>
              </a:rPr>
              <a:t>Reto 03 · Que lo prometido sea lo entregado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74320"/>
            <a:ext cx="32918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>
                <a:solidFill>
                  <a:srgbClr val="C83D08"/>
                </a:solidFill>
                <a:latin typeface="Helvetica Neue"/>
              </a:rPr>
              <a:t>3 / 7 ·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301D19"/>
                </a:solidFill>
                <a:latin typeface="Helvetica Neue"/>
              </a:rPr>
              <a:t>Comparamos cuatro versiones de la misma venta y cada desacuerdo es un defecto explicado en soles.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880360"/>
            <a:ext cx="1463040" cy="1234440"/>
          </a:xfrm>
          <a:prstGeom prst="line">
            <a:avLst/>
          </a:prstGeom>
          <a:ln w="25400">
            <a:solidFill>
              <a:srgbClr val="DED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743200" y="4114800"/>
            <a:ext cx="1463040" cy="1234440"/>
          </a:xfrm>
          <a:prstGeom prst="line">
            <a:avLst/>
          </a:prstGeom>
          <a:ln w="25400">
            <a:solidFill>
              <a:srgbClr val="DED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1280160" y="4114800"/>
            <a:ext cx="1463040" cy="1234440"/>
          </a:xfrm>
          <a:prstGeom prst="line">
            <a:avLst/>
          </a:prstGeom>
          <a:ln w="25400">
            <a:solidFill>
              <a:srgbClr val="DED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80160" y="2880360"/>
            <a:ext cx="1463040" cy="1234440"/>
          </a:xfrm>
          <a:prstGeom prst="line">
            <a:avLst/>
          </a:prstGeom>
          <a:ln w="25400">
            <a:solidFill>
              <a:srgbClr val="DED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2880360"/>
            <a:ext cx="0" cy="2468880"/>
          </a:xfrm>
          <a:prstGeom prst="line">
            <a:avLst/>
          </a:prstGeom>
          <a:ln w="25400">
            <a:solidFill>
              <a:srgbClr val="DED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4114800"/>
            <a:ext cx="2926080" cy="0"/>
          </a:xfrm>
          <a:prstGeom prst="line">
            <a:avLst/>
          </a:prstGeom>
          <a:ln w="25400">
            <a:solidFill>
              <a:srgbClr val="DED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76272" y="2606040"/>
            <a:ext cx="1133856" cy="548640"/>
          </a:xfrm>
          <a:prstGeom prst="round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Promesa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9311" y="3840480"/>
            <a:ext cx="1133856" cy="548640"/>
          </a:xfrm>
          <a:prstGeom prst="roundRect">
            <a:avLst/>
          </a:prstGeom>
          <a:solidFill>
            <a:srgbClr val="FFF3ED"/>
          </a:solidFill>
          <a:ln w="12700">
            <a:solidFill>
              <a:srgbClr val="FF5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83D08"/>
                </a:solidFill>
              </a:rPr>
              <a:t>Catálogo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76272" y="5074920"/>
            <a:ext cx="1133856" cy="548640"/>
          </a:xfrm>
          <a:prstGeom prst="roundRect">
            <a:avLst/>
          </a:prstGeom>
          <a:solidFill>
            <a:srgbClr val="FFF3ED"/>
          </a:solidFill>
          <a:ln w="12700">
            <a:solidFill>
              <a:srgbClr val="FF5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83D08"/>
                </a:solidFill>
              </a:rPr>
              <a:t>Entrega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1" y="3840480"/>
            <a:ext cx="1133856" cy="548640"/>
          </a:xfrm>
          <a:prstGeom prst="roundRect">
            <a:avLst/>
          </a:prstGeom>
          <a:solidFill>
            <a:srgbClr val="FFF3ED"/>
          </a:solidFill>
          <a:ln w="12700">
            <a:solidFill>
              <a:srgbClr val="FF5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83D08"/>
                </a:solidFill>
              </a:rPr>
              <a:t>Registro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60720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4B4B4B"/>
                </a:solidFill>
                <a:latin typeface="Helvetica Neue"/>
              </a:rPr>
              <a:t>La unidad de análisis es la promesa, no la venta registrada. Seis aristas, 39 reglas, cada una con su fuente.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514600"/>
            <a:ext cx="82296" cy="1005840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2468880"/>
            <a:ext cx="58521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C83D08"/>
                </a:solidFill>
                <a:latin typeface="Helvetica Neue"/>
              </a:rPr>
              <a:t>1 · Veredicto con costo esperado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862072"/>
            <a:ext cx="58521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01D19"/>
                </a:solidFill>
                <a:latin typeface="Helvetica Neue"/>
              </a:rPr>
              <a:t>APROBAR, REVISAR o RETENER. Cadena de evidencia con la regla, los valores y su fuente. Contrafáctico: «si el precio fuera S/99, esta venta pasaría».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3703320"/>
            <a:ext cx="82296" cy="1005840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3657600"/>
            <a:ext cx="58521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C83D08"/>
                </a:solidFill>
                <a:latin typeface="Helvetica Neue"/>
              </a:rPr>
              <a:t>2 · El lote del jurado, con cualquier esquema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050791"/>
            <a:ext cx="58521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01D19"/>
                </a:solidFill>
                <a:latin typeface="Helvetica Neue"/>
              </a:rPr>
              <a:t>JSON o CSV con columnas ajenas: la IA las mapea, las filas corruptas se reportan y el lote sigue. Matriz de confusión contra sus etiquetas.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4892040"/>
            <a:ext cx="82296" cy="1005840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4846320"/>
            <a:ext cx="58521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C83D08"/>
                </a:solidFill>
                <a:latin typeface="Helvetica Neue"/>
              </a:rPr>
              <a:t>3 · El cliente confirma en 20 segundos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5239512"/>
            <a:ext cx="58521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01D19"/>
                </a:solidFill>
                <a:latin typeface="Helvetica Neue"/>
              </a:rPr>
              <a:t>Un enlace antes de instalar: «¿Es esto lo que acordaste?». Su respuesta cambia el veredicto. Su silencio es la señal más fuerte.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91992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74320"/>
            <a:ext cx="54864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4B4B4B"/>
                </a:solidFill>
                <a:latin typeface="Helvetica Neue"/>
              </a:rPr>
              <a:t>Reto 03 · Que lo prometido sea lo entregado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74320"/>
            <a:ext cx="32918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>
                <a:solidFill>
                  <a:srgbClr val="C83D08"/>
                </a:solidFill>
                <a:latin typeface="Helvetica Neue"/>
              </a:rPr>
              <a:t>4 / 7 · Diferencia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301D19"/>
                </a:solidFill>
                <a:latin typeface="Helvetica Neue"/>
              </a:rPr>
              <a:t>Por qué esto y no una auditoría muestral ni un score de riesgo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651760"/>
                <a:gridCol w="2651760"/>
                <a:gridCol w="3108960"/>
              </a:tblGrid>
              <a:tr h="609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91440" marR="91440" marT="54864" marB="54864" anchor="ctr">
                    <a:solidFill>
                      <a:srgbClr val="3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Auditoría muestral</a:t>
                      </a:r>
                    </a:p>
                  </a:txBody>
                  <a:tcPr marL="91440" marR="91440" marT="54864" marB="54864" anchor="ctr">
                    <a:solidFill>
                      <a:srgbClr val="3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Score de riesgo</a:t>
                      </a:r>
                    </a:p>
                  </a:txBody>
                  <a:tcPr marL="91440" marR="91440" marT="54864" marB="54864" anchor="ctr">
                    <a:solidFill>
                      <a:srgbClr val="30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Nuestra propuesta</a:t>
                      </a:r>
                    </a:p>
                  </a:txBody>
                  <a:tcPr marL="91440" marR="91440" marT="54864" marB="54864" anchor="ctr">
                    <a:solidFill>
                      <a:srgbClr val="FF5A0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01D19"/>
                          </a:solidFill>
                          <a:latin typeface="Helvetica Neue"/>
                        </a:rPr>
                        <a:t>Cuándo mira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01D19"/>
                          </a:solidFill>
                          <a:latin typeface="Helvetica Neue"/>
                        </a:rPr>
                        <a:t>Una muestra, después de instalar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01D19"/>
                          </a:solidFill>
                          <a:latin typeface="Helvetica Neue"/>
                        </a:rPr>
                        <a:t>Cada venta, al registrarla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3D08"/>
                          </a:solidFill>
                          <a:latin typeface="Helvetica Neue"/>
                        </a:rPr>
                        <a:t>Cada venta, antes de instalar</a:t>
                      </a:r>
                    </a:p>
                  </a:txBody>
                  <a:tcPr marL="91440" marR="91440" marT="54864" marB="54864" anchor="ctr">
                    <a:solidFill>
                      <a:srgbClr val="FFF3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01D19"/>
                          </a:solidFill>
                          <a:latin typeface="Helvetica Neue"/>
                        </a:rPr>
                        <a:t>Cómo decide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01D19"/>
                          </a:solidFill>
                          <a:latin typeface="Helvetica Neue"/>
                        </a:rPr>
                        <a:t>Criterio del analista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01D19"/>
                          </a:solidFill>
                          <a:latin typeface="Helvetica Neue"/>
                        </a:rPr>
                        <a:t>Umbral de score opaco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3D08"/>
                          </a:solidFill>
                          <a:latin typeface="Helvetica Neue"/>
                        </a:rPr>
                        <a:t>Costo esperado del defecto vs. costo de revisar, en soles</a:t>
                      </a:r>
                    </a:p>
                  </a:txBody>
                  <a:tcPr marL="91440" marR="91440" marT="54864" marB="54864" anchor="ctr">
                    <a:solidFill>
                      <a:srgbClr val="FFF3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01D19"/>
                          </a:solidFill>
                          <a:latin typeface="Helvetica Neue"/>
                        </a:rPr>
                        <a:t>Qué explica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01D19"/>
                          </a:solidFill>
                          <a:latin typeface="Helvetica Neue"/>
                        </a:rPr>
                        <a:t>Un informe mensual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01D19"/>
                          </a:solidFill>
                          <a:latin typeface="Helvetica Neue"/>
                        </a:rPr>
                        <a:t>Un número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3D08"/>
                          </a:solidFill>
                          <a:latin typeface="Helvetica Neue"/>
                        </a:rPr>
                        <a:t>Qué campo no coincide con qué, y qué cambiaría el veredicto</a:t>
                      </a:r>
                    </a:p>
                  </a:txBody>
                  <a:tcPr marL="91440" marR="91440" marT="54864" marB="54864" anchor="ctr">
                    <a:solidFill>
                      <a:srgbClr val="FFF3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01D19"/>
                          </a:solidFill>
                          <a:latin typeface="Helvetica Neue"/>
                        </a:rPr>
                        <a:t>Quién verifica al cliente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01D19"/>
                          </a:solidFill>
                          <a:latin typeface="Helvetica Neue"/>
                        </a:rPr>
                        <a:t>Nadie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01D19"/>
                          </a:solidFill>
                          <a:latin typeface="Helvetica Neue"/>
                        </a:rPr>
                        <a:t>Nadie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3D08"/>
                          </a:solidFill>
                          <a:latin typeface="Helvetica Neue"/>
                        </a:rPr>
                        <a:t>El propio cliente, por enlace; el silencio cuenta</a:t>
                      </a:r>
                    </a:p>
                  </a:txBody>
                  <a:tcPr marL="91440" marR="91440" marT="54864" marB="54864" anchor="ctr">
                    <a:solidFill>
                      <a:srgbClr val="FFF3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01D19"/>
                          </a:solidFill>
                          <a:latin typeface="Helvetica Neue"/>
                        </a:rPr>
                        <a:t>Qué necesita para arrancar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01D19"/>
                          </a:solidFill>
                          <a:latin typeface="Helvetica Neue"/>
                        </a:rPr>
                        <a:t>Analistas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01D19"/>
                          </a:solidFill>
                          <a:latin typeface="Helvetica Neue"/>
                        </a:rPr>
                        <a:t>Histórico etiquetado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3D08"/>
                          </a:solidFill>
                          <a:latin typeface="Helvetica Neue"/>
                        </a:rPr>
                        <a:t>Solo el tarifario público: día uno</a:t>
                      </a:r>
                    </a:p>
                  </a:txBody>
                  <a:tcPr marL="91440" marR="91440" marT="54864" marB="54864" anchor="ctr">
                    <a:solidFill>
                      <a:srgbClr val="FFF3E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B4B4B"/>
                </a:solidFill>
                <a:latin typeface="Helvetica Neue"/>
              </a:rPr>
              <a:t>La IA extrae, mapea y redacta. Nunca decide. Por eso la explicación no depende del modelo y la demo no depende de la 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91992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74320"/>
            <a:ext cx="54864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4B4B4B"/>
                </a:solidFill>
                <a:latin typeface="Helvetica Neue"/>
              </a:rPr>
              <a:t>Reto 03 · Que lo prometido sea lo entregado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74320"/>
            <a:ext cx="32918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>
                <a:solidFill>
                  <a:srgbClr val="C83D08"/>
                </a:solidFill>
                <a:latin typeface="Helvetica Neue"/>
              </a:rPr>
              <a:t>5 / 7 · Tracción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69494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301D19"/>
                </a:solidFill>
                <a:latin typeface="Helvetica Neue"/>
              </a:rPr>
              <a:t>No es una maqueta. Corre ahora, desde su teléfono.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C83D08"/>
                </a:solidFill>
                <a:latin typeface="Helvetica Neue"/>
              </a:rPr>
              <a:t>39 reglas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01D19"/>
                </a:solidFill>
                <a:latin typeface="Helvetica Neue"/>
              </a:rPr>
              <a:t>sobre las seis aristas del rombo, cada una con fuente pública o supuesto declarado en pantalla.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C83D08"/>
                </a:solidFill>
                <a:latin typeface="Helvetica Neue"/>
              </a:rPr>
              <a:t>24 + 25 casos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88036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01D19"/>
                </a:solidFill>
                <a:latin typeface="Helvetica Neue"/>
              </a:rPr>
              <a:t>24 casos adversarios del banco del equipo y 25 casos demo etiquetados, en el repo, corren sin 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C83D08"/>
                </a:solidFill>
                <a:latin typeface="Helvetica Neue"/>
              </a:rPr>
              <a:t>30 campos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01D19"/>
                </a:solidFill>
                <a:latin typeface="Helvetica Neue"/>
              </a:rPr>
              <a:t>en el contrato de datos: 21 ya existen en WIN, 4 por confirmar, 5 por capturar.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0060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C83D08"/>
                </a:solidFill>
                <a:latin typeface="Helvetica Neue"/>
              </a:rPr>
              <a:t>97 pruebas en verde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80060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01D19"/>
                </a:solidFill>
                <a:latin typeface="Helvetica Neue"/>
              </a:rPr>
              <a:t>motor, ingesta, app y banco adversario. La IA corre en vivo con OpenCode Go y degrada sin 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005840"/>
            <a:ext cx="3566160" cy="5212080"/>
          </a:xfrm>
          <a:prstGeom prst="roundRect">
            <a:avLst/>
          </a:prstGeom>
          <a:solidFill>
            <a:srgbClr val="FFF3ED"/>
          </a:solidFill>
          <a:ln w="12700">
            <a:solidFill>
              <a:srgbClr val="FF5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IN-Reto03-QR-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234440"/>
            <a:ext cx="2926080" cy="2926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83879" y="425196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C83D08"/>
                </a:solidFill>
                <a:latin typeface="Helvetica Neue"/>
              </a:rPr>
              <a:t>Escanea y prueba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66344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301D19"/>
                </a:solidFill>
                <a:latin typeface="Helvetica Neue"/>
              </a:rPr>
              <a:t>idealistic-carmela-preneolithic.ngrok-free.dev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440680"/>
            <a:ext cx="34747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B4B4B"/>
                </a:solidFill>
                <a:latin typeface="Helvetica Neue"/>
              </a:rPr>
              <a:t>Sin instalar nada. Si aparece la página de ngrok, toca «Visit Site». Luego: Lote → Cargar los 25 casos de demo.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6949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B4B4B"/>
                </a:solidFill>
                <a:latin typeface="Helvetica Neue"/>
              </a:rPr>
              <a:t>github.com/MccFlurry/win-reto03 · datos 100 % sintéticos · catálogo desde win.pe y la cartilla pública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91992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74320"/>
            <a:ext cx="54864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4B4B4B"/>
                </a:solidFill>
                <a:latin typeface="Helvetica Neue"/>
              </a:rPr>
              <a:t>Reto 03 · Que lo prometido sea lo entregado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74320"/>
            <a:ext cx="32918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>
                <a:solidFill>
                  <a:srgbClr val="C83D08"/>
                </a:solidFill>
                <a:latin typeface="Helvetica Neue"/>
              </a:rPr>
              <a:t>6 / 7 · 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301D19"/>
                </a:solidFill>
                <a:latin typeface="Helvetica Neue"/>
              </a:rPr>
              <a:t>Tres mitades del mismo problema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33375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3337560" cy="73152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C83D08"/>
                </a:solidFill>
                <a:latin typeface="Helvetica Neue"/>
              </a:rPr>
              <a:t>MOTOR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301D19"/>
                </a:solidFill>
                <a:latin typeface="Helvetica Neue"/>
              </a:rPr>
              <a:t>Roger Zavaleta Marcelo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301752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B4B4B"/>
                </a:solidFill>
                <a:latin typeface="Helvetica Neue"/>
              </a:rPr>
              <a:t>Las 39 reglas, el costo esperado en soles y el contrafáctico: la parte que decide y se explica.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33375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011680"/>
            <a:ext cx="3337560" cy="73152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C83D08"/>
                </a:solidFill>
                <a:latin typeface="Helvetica Neue"/>
              </a:rPr>
              <a:t>SUPERFICIE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301D19"/>
                </a:solidFill>
                <a:latin typeface="Helvetica Neue"/>
              </a:rPr>
              <a:t>Abraham Vidaurre Serpa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611880"/>
            <a:ext cx="301752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B4B4B"/>
                </a:solidFill>
                <a:latin typeface="Helvetica Neue"/>
              </a:rPr>
              <a:t>La interfaz móvil primero que usa el jurado y el enlace que ve el cliente: la parte que se entiende.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33375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011680"/>
            <a:ext cx="3337560" cy="73152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24028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C83D08"/>
                </a:solidFill>
                <a:latin typeface="Helvetica Neue"/>
              </a:rPr>
              <a:t>CIRCUITO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301D19"/>
                </a:solidFill>
                <a:latin typeface="Helvetica Neue"/>
              </a:rPr>
              <a:t>Jonatan Ching Ayacila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611880"/>
            <a:ext cx="301752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B4B4B"/>
                </a:solidFill>
                <a:latin typeface="Helvetica Neue"/>
              </a:rPr>
              <a:t>La confirmación del cliente, la evidencia pública y el contrato de datos: la parte que cierra el arco con WIN.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B4B4B"/>
                </a:solidFill>
                <a:latin typeface="Helvetica Neue"/>
              </a:rPr>
              <a:t>Hackatón WIN Chiclayo 2026 · Reto 03 · Calidad de venta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1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91992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74320"/>
            <a:ext cx="54864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Helvetica Neue"/>
              </a:rPr>
              <a:t>Reto 03 · Que lo prometido sea lo entregado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74320"/>
            <a:ext cx="32918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>
                <a:solidFill>
                  <a:srgbClr val="FF5A0A"/>
                </a:solidFill>
                <a:latin typeface="Helvetica Neue"/>
              </a:rPr>
              <a:t>7 / 7 · Cierre y pedido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73152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Helvetica Neue"/>
              </a:rPr>
              <a:t>Que lo prometido sea lo entregado. Antes de la instalación, no después del reclamo.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7315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F5A0A"/>
                </a:solidFill>
                <a:latin typeface="Helvetica Neue"/>
              </a:rPr>
              <a:t>Pedimos un piloto de 30 días con Calidad de Venta: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73152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6F6F6"/>
                </a:solidFill>
                <a:latin typeface="Helvetica Neue"/>
              </a:rPr>
              <a:t>1 · Acceso por API al registro de ventas de un canal: 40 ventas por día bastan.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F6F6F6"/>
                </a:solidFill>
                <a:latin typeface="Helvetica Neue"/>
              </a:rPr>
              <a:t>2 · Tres cifras que hoy no tenemos: mediana venta → instalación, % de instalaciones fallidas, costo por minuto del analista.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F6F6F6"/>
                </a:solidFill>
                <a:latin typeface="Helvetica Neue"/>
              </a:rPr>
              <a:t>3 · Capturar los 5 campos del contrato que hoy no existen: la promesa textual, la reedición y la confirmación del cliente.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005840"/>
            <a:ext cx="32004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IN-Reto03-QR-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188720"/>
            <a:ext cx="2834640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411480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C83D08"/>
                </a:solidFill>
                <a:latin typeface="Helvetica Neue"/>
              </a:rPr>
              <a:t>Pruébalo ahora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452628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301D19"/>
                </a:solidFill>
                <a:latin typeface="Helvetica Neue"/>
              </a:rPr>
              <a:t>idealistic-carmela-preneolithic.ngrok-free.dev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52120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B4B4B"/>
                </a:solidFill>
                <a:latin typeface="Helvetica Neue"/>
              </a:rPr>
              <a:t>Si aparece la página de ngrok, toca «Visit Site».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7315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DEDBD9"/>
                </a:solidFill>
                <a:latin typeface="Helvetica Neue"/>
              </a:rPr>
              <a:t>Protege las ventas buenas, al cliente y al vendedor honesto. No es vigilancia sobre el vendedor.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5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N-Reto03-Q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68580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C83D08"/>
                </a:solidFill>
                <a:latin typeface="Helvetica Neue"/>
              </a:rPr>
              <a:t>https://idealistic-carmela-preneolithic.ngrok-free.dev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4B4B4B"/>
                </a:solidFill>
                <a:latin typeface="Helvetica Neue"/>
              </a:rPr>
              <a:t>Sin instalar nada. Si aparece la página de ngrok, toca «Visit Site». Luego: Lote → Cargar los 25 casos de demo, o pega tu propio lote.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