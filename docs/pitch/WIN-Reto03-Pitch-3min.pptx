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0:00–0:15 · GANCHO (memorizar palabra por palabra, a la mitad de tu velocidad normal)</a:t>
            </a:r>
          </a:p>
          <a:p/>
          <a:p>
            <a:r>
              <a:t>«S/79 al mes», dijo el asesor. [pausa]</a:t>
            </a:r>
          </a:p>
          <a:p>
            <a:r>
              <a:t>La primera factura llegó en S/109. [pausa]</a:t>
            </a:r>
          </a:p>
          <a:p>
            <a:r>
              <a:t>Plan, cuota de instalación, recibo físico. Todo estaba en el contrato. Nada estaba en la promesa.</a:t>
            </a:r>
          </a:p>
          <a:p>
            <a:r>
              <a:t>Y el reclamo ya está en camino.</a:t>
            </a:r>
          </a:p>
          <a:p/>
          <a:p>
            <a:r>
              <a:t>(No digas tu nombre ni el del equipo. Eso va después del problema.)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0:15–0:50 · PROBLEMA (tres cifras, cada una despacio, un segundo de silencio después)</a:t>
            </a:r>
          </a:p>
          <a:p/>
          <a:p>
            <a:r>
              <a:t>Hoy, el 40 % de los reclamos de telecomunicaciones en el Perú son por facturación y cobro. [pausa] Medio millón el año pasado, según OSIPTEL.</a:t>
            </a:r>
          </a:p>
          <a:p>
            <a:r>
              <a:t>Pasa porque la promesa y la factura salen de lugares distintos. WIN publica hoy tres tarifarios que no coinciden entre sí. [pausa]</a:t>
            </a:r>
          </a:p>
          <a:p>
            <a:r>
              <a:t>Y una venta que no fue lo que parecía no se paga en la venta: se paga después. Una sola baja temprana cuesta S/95. [pausa]</a:t>
            </a:r>
          </a:p>
          <a:p>
            <a:r>
              <a:t>Instalación fallida, reclamo, reversión: cada uno tiene su precio, y ninguno se recupera.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0:50–1:35 · SOLUCIÓN (una frase antes de cualquier función)</a:t>
            </a:r>
          </a:p>
          <a:p/>
          <a:p>
            <a:r>
              <a:t>Nosotros tratamos la promesa como el dato principal. Comparamos cuatro versiones de la misma venta: lo que se prometió, el catálogo vigente, lo que quedó registrado y lo que se va a entregar. Cada desacuerdo es un defecto con nombre, valor y costo en soles.</a:t>
            </a:r>
          </a:p>
          <a:p>
            <a:r>
              <a:t>Tres cosas hace.</a:t>
            </a:r>
          </a:p>
          <a:p>
            <a:r>
              <a:t>Uno: cada venta sale con un veredicto, aprobar, revisar o retener, con su cadena de evidencia y un contrafáctico: «si el precio fuera S/99, esta venta pasaría».</a:t>
            </a:r>
          </a:p>
          <a:p>
            <a:r>
              <a:t>Dos: el jurado pega un lote con cualquier esquema y el sistema lo mapea, lo separa y muestra la matriz de confusión.</a:t>
            </a:r>
          </a:p>
          <a:p>
            <a:r>
              <a:t>Tres: el cliente confirma por un enlace de veinte segundos antes de instalar. Y su silencio es la señal más fuerte que tenemos.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1:35–1:50 · IMPACTO</a:t>
            </a:r>
          </a:p>
          <a:p/>
          <a:p>
            <a:r>
              <a:t>Hoy una venta mala se descubre cuando ya costó: S/80 la instalación fallida, S/45 el reclamo, S/58 la reversión, S/95 la baja. Con el sistema se revisa antes de instalar, solo si el defecto esperado cuesta más que los 12 minutos de revisión. Las ventas buenas pasan sin tocarse y el cliente confirma en 20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1:35–2:05 · DIFERENCIA (nombra la alternativa sin miedo)</a:t>
            </a:r>
          </a:p>
          <a:p/>
          <a:p>
            <a:r>
              <a:t>A diferencia de una auditoría muestral, esto corre en cada venta y antes de instalar.</a:t>
            </a:r>
          </a:p>
          <a:p>
            <a:r>
              <a:t>A diferencia de un score de riesgo, no hay caja negra: la decisión es costo esperado del defecto contra costo de revisar, en soles, y se explica campo por campo.</a:t>
            </a:r>
          </a:p>
          <a:p>
            <a:r>
              <a:t>Y no necesita histórico etiquetado: corre el día uno con el tarifario público.</a:t>
            </a:r>
          </a:p>
          <a:p>
            <a:r>
              <a:t>La IA extrae, mapea y redacta. Nunca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2:05–2:30 · TRACCIÓN (números, no promesas; señala el QR)</a:t>
            </a:r>
          </a:p>
          <a:p/>
          <a:p>
            <a:r>
              <a:t>Esto no es una maqueta. Corre ahora, en esa URL, sin instalar nada.</a:t>
            </a:r>
          </a:p>
          <a:p>
            <a:r>
              <a:t>39 reglas con fuente declarada. 24 casos adversarios y 25 casos demo en el repo. Un contrato de datos de 30 campos donde 21 ya existen en WIN. 97 pruebas en verde.</a:t>
            </a:r>
          </a:p>
          <a:p>
            <a:r>
              <a:t>Escaneen el código y prueben con su propio lote mientras seguimos.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2:30–2:40 · EQUIPO (una línea por persona; ahora sí, el nombre)</a:t>
            </a:r>
          </a:p>
          <a:p/>
          <a:p>
            <a:r>
              <a:t>Somos tres: Roger construyó el motor que decide, Abraham la pantalla que lo explica en un teléfono, y Jonatan el circuito que lo cierra con el cliente.</a:t>
            </a:r>
          </a:p>
          <a:p/>
          <a:p>
            <a:r>
              <a:t>(Si quieren, reemplacen cada línea por la que conecta a cada uno con el problema: experiencia en ventas, en atención, en datos.)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2:40–3:00 · CIERRE Y PEDIDO (memorizar palabra por palabra; termina en el pedido, no en gracias)</a:t>
            </a:r>
          </a:p>
          <a:p/>
          <a:p>
            <a:r>
              <a:t>Que lo prometido sea lo entregado: antes de la instalación, no después del reclamo.</a:t>
            </a:r>
          </a:p>
          <a:p>
            <a:r>
              <a:t>Pedimos un piloto de 30 días con Calidad de Venta: acceso al registro de ventas por API, tres cifras que hoy no tenemos, y los cinco campos que faltan del contrato. [pausa]</a:t>
            </a:r>
          </a:p>
          <a:p>
            <a:r>
              <a:t>Escaneen el código. Está corriendo.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esta lámina en pantalla durante las preguntas del jurado.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FF5A0A"/>
                </a:solidFill>
                <a:latin typeface="Helvetica Neue"/>
              </a:rPr>
              <a:t>1 / 7 · Gancho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>
                <a:solidFill>
                  <a:srgbClr val="FFFFFF"/>
                </a:solidFill>
                <a:latin typeface="Helvetica Neue"/>
              </a:rPr>
              <a:t>«S/79 al mes», dijo el asesor.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>
                <a:solidFill>
                  <a:srgbClr val="FF5A0A"/>
                </a:solidFill>
                <a:latin typeface="Helvetica Neue"/>
              </a:rPr>
              <a:t>La factura llegó en S/109.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F6F6F6"/>
                </a:solidFill>
                <a:latin typeface="Helvetica Neue"/>
              </a:rPr>
              <a:t>Plan S/79 + instalación S/20 + recibo físico S/10. Todo en el contrato. Nada en la promesa.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C83D08"/>
                </a:solidFill>
                <a:latin typeface="Helvetica Neue"/>
              </a:rPr>
              <a:t>2 / 7 ·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301D19"/>
                </a:solidFill>
                <a:latin typeface="Helvetica Neue"/>
              </a:rPr>
              <a:t>Se paga después de la venta, nunca en la venta.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7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333756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30175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C83D08"/>
                </a:solidFill>
                <a:latin typeface="Helvetica Neue"/>
              </a:rPr>
              <a:t>40 %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88620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301D19"/>
                </a:solidFill>
                <a:latin typeface="Helvetica Neue"/>
              </a:rPr>
              <a:t>de los reclamos de telecom en el Perú son por facturación y cobro.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103120"/>
            <a:ext cx="3337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103120"/>
            <a:ext cx="333756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23160"/>
            <a:ext cx="30175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C83D08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88620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301D19"/>
                </a:solidFill>
                <a:latin typeface="Helvetica Neue"/>
              </a:rPr>
              <a:t>tarifarios publica WIN hoy. No coinciden entre sí.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103120"/>
            <a:ext cx="3337560" cy="3291840"/>
          </a:xfrm>
          <a:prstGeom prst="rect">
            <a:avLst/>
          </a:prstGeom>
          <a:solidFill>
            <a:srgbClr val="FFFFFF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03120"/>
            <a:ext cx="333756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423160"/>
            <a:ext cx="301752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>
                <a:solidFill>
                  <a:srgbClr val="C83D08"/>
                </a:solidFill>
                <a:latin typeface="Helvetica Neue"/>
              </a:rPr>
              <a:t>S/95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886200"/>
            <a:ext cx="30175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>
                <a:solidFill>
                  <a:srgbClr val="301D19"/>
                </a:solidFill>
                <a:latin typeface="Helvetica Neue"/>
              </a:rPr>
              <a:t>cuesta una sola baja temprana. Y ya no se recupera.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B4B4B"/>
                </a:solidFill>
                <a:latin typeface="Helvetica Neue"/>
              </a:rPr>
              <a:t>OSIPTEL 2025 · win.pe, cartilla informativa · modelo de costo del equipo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C83D08"/>
                </a:solidFill>
                <a:latin typeface="Helvetica Neue"/>
              </a:rPr>
              <a:t>3 / 7 ·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301D19"/>
                </a:solidFill>
                <a:latin typeface="Helvetica Neue"/>
              </a:rPr>
              <a:t>Comparamos 4 versiones de la misma venta. Cada desacuerdo es un defecto, en soles.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3017520"/>
            <a:ext cx="1554480" cy="1280160"/>
          </a:xfrm>
          <a:prstGeom prst="line">
            <a:avLst/>
          </a:prstGeom>
          <a:ln w="31750">
            <a:solidFill>
              <a:srgbClr val="DED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2743200" y="4297680"/>
            <a:ext cx="1554480" cy="1280160"/>
          </a:xfrm>
          <a:prstGeom prst="line">
            <a:avLst/>
          </a:prstGeom>
          <a:ln w="31750">
            <a:solidFill>
              <a:srgbClr val="DED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188720" y="4297680"/>
            <a:ext cx="1554480" cy="1280160"/>
          </a:xfrm>
          <a:prstGeom prst="line">
            <a:avLst/>
          </a:prstGeom>
          <a:ln w="31750">
            <a:solidFill>
              <a:srgbClr val="DED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88720" y="3017520"/>
            <a:ext cx="1554480" cy="1280160"/>
          </a:xfrm>
          <a:prstGeom prst="line">
            <a:avLst/>
          </a:prstGeom>
          <a:ln w="31750">
            <a:solidFill>
              <a:srgbClr val="DED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743200" y="3017520"/>
            <a:ext cx="0" cy="2560320"/>
          </a:xfrm>
          <a:prstGeom prst="line">
            <a:avLst/>
          </a:prstGeom>
          <a:ln w="31750">
            <a:solidFill>
              <a:srgbClr val="DED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88720" y="4297680"/>
            <a:ext cx="3108960" cy="0"/>
          </a:xfrm>
          <a:prstGeom prst="line">
            <a:avLst/>
          </a:prstGeom>
          <a:ln w="31750">
            <a:solidFill>
              <a:srgbClr val="DEDB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03120" y="2715768"/>
            <a:ext cx="1280160" cy="603504"/>
          </a:xfrm>
          <a:prstGeom prst="round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Promesa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3995928"/>
            <a:ext cx="1280160" cy="603504"/>
          </a:xfrm>
          <a:prstGeom prst="roundRect">
            <a:avLst/>
          </a:prstGeom>
          <a:solidFill>
            <a:srgbClr val="FFF3ED"/>
          </a:solidFill>
          <a:ln w="19050">
            <a:solidFill>
              <a:srgbClr val="FF5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C83D08"/>
                </a:solidFill>
              </a:rPr>
              <a:t>Catálogo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03120" y="5276088"/>
            <a:ext cx="1280160" cy="603504"/>
          </a:xfrm>
          <a:prstGeom prst="roundRect">
            <a:avLst/>
          </a:prstGeom>
          <a:solidFill>
            <a:srgbClr val="FFF3ED"/>
          </a:solidFill>
          <a:ln w="19050">
            <a:solidFill>
              <a:srgbClr val="FF5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C83D08"/>
                </a:solidFill>
              </a:rPr>
              <a:t>Entrega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95928"/>
            <a:ext cx="1280160" cy="603504"/>
          </a:xfrm>
          <a:prstGeom prst="roundRect">
            <a:avLst/>
          </a:prstGeom>
          <a:solidFill>
            <a:srgbClr val="FFF3ED"/>
          </a:solidFill>
          <a:ln w="19050">
            <a:solidFill>
              <a:srgbClr val="FF5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C83D08"/>
                </a:solidFill>
              </a:rPr>
              <a:t>Registro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0" y="2468880"/>
            <a:ext cx="91440" cy="96012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80" y="242316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C83D08"/>
                </a:solidFill>
                <a:latin typeface="Helvetica Neue"/>
              </a:rPr>
              <a:t>Veredicto en soles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880360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301D19"/>
                </a:solidFill>
                <a:latin typeface="Helvetica Neue"/>
              </a:rPr>
              <a:t>Aprobar · Revisar · Retener. Y qué lo arreglaría.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0" y="3657600"/>
            <a:ext cx="91440" cy="96012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361188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C83D08"/>
                </a:solidFill>
                <a:latin typeface="Helvetica Neue"/>
              </a:rPr>
              <a:t>Cualquier lote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97880" y="4069080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301D19"/>
                </a:solidFill>
                <a:latin typeface="Helvetica Neue"/>
              </a:rPr>
              <a:t>Pegas tus columnas. Lo mapea, lo separa, lo explica.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0" y="4846320"/>
            <a:ext cx="91440" cy="96012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97880" y="480060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C83D08"/>
                </a:solidFill>
                <a:latin typeface="Helvetica Neue"/>
              </a:rPr>
              <a:t>El cliente confirma en 20 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7880" y="5257800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301D19"/>
                </a:solidFill>
                <a:latin typeface="Helvetica Neue"/>
              </a:rPr>
              <a:t>Un enlace antes de instalar. Su silencio también cuenta.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C83D08"/>
                </a:solidFill>
                <a:latin typeface="Helvetica Neue"/>
              </a:rPr>
              <a:t>4 / 7 · Impacto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301D19"/>
                </a:solidFill>
                <a:latin typeface="Helvetica Neue"/>
              </a:rPr>
              <a:t>Qué cambia para WIN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120640" cy="3931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5120640" cy="91440"/>
          </a:xfrm>
          <a:prstGeom prst="rect">
            <a:avLst/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4B4B4B"/>
                </a:solidFill>
                <a:latin typeface="Helvetica Neue"/>
              </a:rPr>
              <a:t>HOY: la venta mala se descubre después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47548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301D19"/>
                </a:solidFill>
                <a:latin typeface="Helvetica Neue"/>
              </a:rPr>
              <a:t>Instalación fallida   S/80</a:t>
            </a:r>
          </a:p>
          <a:p>
            <a:pPr algn="l">
              <a:lnSpc>
                <a:spcPct val="135000"/>
              </a:lnSpc>
            </a:pPr>
            <a:r>
              <a:rPr sz="2200" b="1">
                <a:solidFill>
                  <a:srgbClr val="301D19"/>
                </a:solidFill>
                <a:latin typeface="Helvetica Neue"/>
              </a:rPr>
              <a:t>Reclamo   S/45</a:t>
            </a:r>
          </a:p>
          <a:p>
            <a:pPr algn="l">
              <a:lnSpc>
                <a:spcPct val="135000"/>
              </a:lnSpc>
            </a:pPr>
            <a:r>
              <a:rPr sz="2200" b="1">
                <a:solidFill>
                  <a:srgbClr val="301D19"/>
                </a:solidFill>
                <a:latin typeface="Helvetica Neue"/>
              </a:rPr>
              <a:t>Reversión de factura   S/58</a:t>
            </a:r>
          </a:p>
          <a:p>
            <a:pPr algn="l">
              <a:lnSpc>
                <a:spcPct val="135000"/>
              </a:lnSpc>
            </a:pPr>
            <a:r>
              <a:rPr sz="2200" b="1">
                <a:solidFill>
                  <a:srgbClr val="301D19"/>
                </a:solidFill>
                <a:latin typeface="Helvetica Neue"/>
              </a:rPr>
              <a:t>Baja temprana   S/95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4B4B4B"/>
                </a:solidFill>
                <a:latin typeface="Helvetica Neue"/>
              </a:rPr>
              <a:t>Nadie preguntó al cliente.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828800"/>
            <a:ext cx="5120640" cy="3931920"/>
          </a:xfrm>
          <a:prstGeom prst="rect">
            <a:avLst/>
          </a:prstGeom>
          <a:solidFill>
            <a:srgbClr val="FFF3ED"/>
          </a:solidFill>
          <a:ln w="19050">
            <a:solidFill>
              <a:srgbClr val="FF5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828800"/>
            <a:ext cx="512064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574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C83D08"/>
                </a:solidFill>
                <a:latin typeface="Helvetica Neue"/>
              </a:rPr>
              <a:t>CON EL SISTEMA: antes de 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475488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C83D08"/>
                </a:solidFill>
                <a:latin typeface="Helvetica Neue"/>
              </a:rPr>
              <a:t>12 min de revisión   S/30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301D19"/>
                </a:solidFill>
                <a:latin typeface="Helvetica Neue"/>
              </a:rPr>
              <a:t>Solo si el defecto esperado cuesta más que revisar.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301D19"/>
                </a:solidFill>
                <a:latin typeface="Helvetica Neue"/>
              </a:rPr>
              <a:t>Las ventas buenas pasan sin tocarse.</a:t>
            </a:r>
          </a:p>
          <a:p>
            <a:pPr algn="l">
              <a:lnSpc>
                <a:spcPct val="135000"/>
              </a:lnSpc>
            </a:pPr>
            <a:r>
              <a:rPr sz="2200" b="1">
                <a:solidFill>
                  <a:srgbClr val="C83D08"/>
                </a:solidFill>
                <a:latin typeface="Helvetica Neue"/>
              </a:rPr>
              <a:t>El cliente confirma en 20 s.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301D19"/>
                </a:solidFill>
                <a:latin typeface="Helvetica Neue"/>
              </a:rPr>
              <a:t>Cada decisión explicada, campo por campo.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4B4B4B"/>
                </a:solidFill>
                <a:latin typeface="Helvetica Neue"/>
              </a:rPr>
              <a:t>Protege la venta buena, al cliente y al vendedor honesto. No vigila al vendedor.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C83D08"/>
                </a:solidFill>
                <a:latin typeface="Helvetica Neue"/>
              </a:rPr>
              <a:t>5 / 7 · Diferencia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301D19"/>
                </a:solidFill>
                <a:latin typeface="Helvetica Neue"/>
              </a:rPr>
              <a:t>Por qué esto y no lo de siempre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11680"/>
            <a:ext cx="109728" cy="10058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C83D08"/>
                </a:solidFill>
                <a:latin typeface="Helvetica Neue"/>
              </a:rPr>
              <a:t>No es una auditoría después.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514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301D19"/>
                </a:solidFill>
                <a:latin typeface="Helvetica Neue"/>
              </a:rPr>
              <a:t>Corre en cada venta, antes de instalar.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37560"/>
            <a:ext cx="109728" cy="10058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29184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C83D08"/>
                </a:solidFill>
                <a:latin typeface="Helvetica Neue"/>
              </a:rPr>
              <a:t>No es un score opaco.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301D19"/>
                </a:solidFill>
                <a:latin typeface="Helvetica Neue"/>
              </a:rPr>
              <a:t>Es costo en soles contra costo de revisar.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663440"/>
            <a:ext cx="109728" cy="10058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617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C83D08"/>
                </a:solidFill>
                <a:latin typeface="Helvetica Neue"/>
              </a:rPr>
              <a:t>La IA no decide.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66359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>
                <a:solidFill>
                  <a:srgbClr val="301D19"/>
                </a:solidFill>
                <a:latin typeface="Helvetica Neue"/>
              </a:rPr>
              <a:t>Extrae, mapea y explica. Decide el motor, con reglas que se leen.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4B4B4B"/>
                </a:solidFill>
                <a:latin typeface="Helvetica Neue"/>
              </a:rPr>
              <a:t>Arranca el día uno con el tarifario público. Sin histórico etiquetado.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C83D08"/>
                </a:solidFill>
                <a:latin typeface="Helvetica Neue"/>
              </a:rPr>
              <a:t>6 / 7 · Tracción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7132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301D19"/>
                </a:solidFill>
                <a:latin typeface="Helvetica Neue"/>
              </a:rPr>
              <a:t>No es una maqueta. Corre ahora.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011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4800" b="1">
                <a:solidFill>
                  <a:srgbClr val="C83D08"/>
                </a:solidFill>
                <a:latin typeface="Helvetica Neue"/>
              </a:rPr>
              <a:t>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20240"/>
            <a:ext cx="4754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301D19"/>
                </a:solidFill>
                <a:latin typeface="Helvetica Neue"/>
              </a:rPr>
              <a:t>reglas, cada una con su fuente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2011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4800" b="1">
                <a:solidFill>
                  <a:srgbClr val="C83D08"/>
                </a:solidFill>
                <a:latin typeface="Helvetica Neue"/>
              </a:rPr>
              <a:t>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154680"/>
            <a:ext cx="4754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301D19"/>
                </a:solidFill>
                <a:latin typeface="Helvetica Neue"/>
              </a:rPr>
              <a:t>casos de prueba, 24 adversarios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389120"/>
            <a:ext cx="20116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4800" b="1">
                <a:solidFill>
                  <a:srgbClr val="C83D08"/>
                </a:solidFill>
                <a:latin typeface="Helvetica Neue"/>
              </a:rPr>
              <a:t>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389120"/>
            <a:ext cx="475488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301D19"/>
                </a:solidFill>
                <a:latin typeface="Helvetica Neue"/>
              </a:rPr>
              <a:t>pruebas automáticas en verde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760720"/>
            <a:ext cx="7132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4B4B4B"/>
                </a:solidFill>
                <a:latin typeface="Helvetica Neue"/>
              </a:rPr>
              <a:t>Contrato de datos de 30 campos: 21 ya existen en WIN.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097280"/>
            <a:ext cx="3200400" cy="4069080"/>
          </a:xfrm>
          <a:prstGeom prst="roundRect">
            <a:avLst/>
          </a:prstGeom>
          <a:solidFill>
            <a:srgbClr val="FFF3ED"/>
          </a:solidFill>
          <a:ln w="19050">
            <a:solidFill>
              <a:srgbClr val="FF5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N-Reto03-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280160"/>
            <a:ext cx="2834640" cy="2834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03920" y="4160520"/>
            <a:ext cx="3200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C83D08"/>
                </a:solidFill>
                <a:latin typeface="Helvetica Neue"/>
              </a:rPr>
              <a:t>Pruébalo ahora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572000"/>
            <a:ext cx="3200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4B4B4B"/>
                </a:solidFill>
                <a:latin typeface="Helvetica Neue"/>
              </a:rPr>
              <a:t>Sin instalar nada · toca «Visit Site»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C83D08"/>
                </a:solidFill>
                <a:latin typeface="Helvetica Neue"/>
              </a:rPr>
              <a:t>7 / 7 · Equipo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>
                <a:solidFill>
                  <a:srgbClr val="301D19"/>
                </a:solidFill>
                <a:latin typeface="Helvetica Neue"/>
              </a:rPr>
              <a:t>Tres mitades del mismo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337560" cy="2926080"/>
          </a:xfrm>
          <a:prstGeom prst="rect">
            <a:avLst/>
          </a:prstGeom>
          <a:solidFill>
            <a:srgbClr val="F6F6F6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333756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0175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301D19"/>
                </a:solidFill>
                <a:latin typeface="Helvetica Neue"/>
              </a:rPr>
              <a:t>Roger Zavaleta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749039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4B4B4B"/>
                </a:solidFill>
                <a:latin typeface="Helvetica Neue"/>
              </a:rPr>
              <a:t>Motor: las reglas y el costo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2194560"/>
            <a:ext cx="3337560" cy="2926080"/>
          </a:xfrm>
          <a:prstGeom prst="rect">
            <a:avLst/>
          </a:prstGeom>
          <a:solidFill>
            <a:srgbClr val="F6F6F6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2194560"/>
            <a:ext cx="333756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560320"/>
            <a:ext cx="30175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301D19"/>
                </a:solidFill>
                <a:latin typeface="Helvetica Neue"/>
              </a:rPr>
              <a:t>Abraham Vidaurre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749039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4B4B4B"/>
                </a:solidFill>
                <a:latin typeface="Helvetica Neue"/>
              </a:rPr>
              <a:t>Superficie: la pantalla que explica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194560"/>
            <a:ext cx="3337560" cy="2926080"/>
          </a:xfrm>
          <a:prstGeom prst="rect">
            <a:avLst/>
          </a:prstGeom>
          <a:solidFill>
            <a:srgbClr val="F6F6F6"/>
          </a:solidFill>
          <a:ln w="19050">
            <a:solidFill>
              <a:srgbClr val="DEDB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2194560"/>
            <a:ext cx="3337560" cy="91440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560320"/>
            <a:ext cx="30175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301D19"/>
                </a:solidFill>
                <a:latin typeface="Helvetica Neue"/>
              </a:rPr>
              <a:t>Jonatan Ching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749039"/>
            <a:ext cx="30175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4B4B4B"/>
                </a:solidFill>
                <a:latin typeface="Helvetica Neue"/>
              </a:rPr>
              <a:t>Circuito: el cliente y el contrato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1D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92608"/>
            <a:ext cx="919929" cy="3840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503920" y="274320"/>
            <a:ext cx="32918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1">
                <a:solidFill>
                  <a:srgbClr val="FF5A0A"/>
                </a:solidFill>
                <a:latin typeface="Helvetica Neue"/>
              </a:rPr>
              <a:t>7 / 7 · 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97280"/>
            <a:ext cx="749807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Helvetica Neue"/>
              </a:rPr>
              <a:t>Que lo prometido sea lo entregado. Antes de instalar, no después del reclamo.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FF5A0A"/>
                </a:solidFill>
                <a:latin typeface="Helvetica Neue"/>
              </a:rPr>
              <a:t>Pedimos un piloto de 30 días con Calidad de Venta: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749807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F6F6F6"/>
                </a:solidFill>
                <a:latin typeface="Helvetica Neue"/>
              </a:rPr>
              <a:t>1 · Ventas de un canal, por API.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F6F6F6"/>
                </a:solidFill>
                <a:latin typeface="Helvetica Neue"/>
              </a:rPr>
              <a:t>2 · Tres cifras que hoy no tenemos.</a:t>
            </a:r>
          </a:p>
          <a:p>
            <a:pPr algn="l">
              <a:lnSpc>
                <a:spcPct val="130000"/>
              </a:lnSpc>
            </a:pPr>
            <a:r>
              <a:rPr sz="2000" b="0">
                <a:solidFill>
                  <a:srgbClr val="F6F6F6"/>
                </a:solidFill>
                <a:latin typeface="Helvetica Neue"/>
              </a:rPr>
              <a:t>3 · Los 5 campos que faltan del contrato.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1097280"/>
            <a:ext cx="3108960" cy="397763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IN-Reto03-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0" y="1280160"/>
            <a:ext cx="274320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86800" y="4069080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>
                <a:solidFill>
                  <a:srgbClr val="C83D08"/>
                </a:solidFill>
                <a:latin typeface="Helvetica Neue"/>
              </a:rPr>
              <a:t>Pruébalo ahora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448056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4B4B4B"/>
                </a:solidFill>
                <a:latin typeface="Helvetica Neue"/>
              </a:rPr>
              <a:t>Sin instalar nada · toca «Visit Site»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FF5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IN-Reto03-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685800"/>
            <a:ext cx="47548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C83D08"/>
                </a:solidFill>
                <a:latin typeface="Helvetica Neue"/>
              </a:rPr>
              <a:t>https://idealistic-carmela-preneolithic.ngrok-free.dev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4B4B4B"/>
                </a:solidFill>
                <a:latin typeface="Helvetica Neue"/>
              </a:rPr>
              <a:t>Toca «Visit Site» · Lote → Cargar los 25 casos de demo, o pega tu propio lote.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